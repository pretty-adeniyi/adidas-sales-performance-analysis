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9" r:id="rId5"/>
    <p:sldId id="258" r:id="rId6"/>
    <p:sldId id="260" r:id="rId7"/>
    <p:sldId id="261" r:id="rId8"/>
    <p:sldId id="262" r:id="rId9"/>
    <p:sldId id="263" r:id="rId10"/>
    <p:sldId id="264" r:id="rId11"/>
    <p:sldId id="265" r:id="rId12"/>
    <p:sldId id="270" r:id="rId13"/>
    <p:sldId id="266" r:id="rId14"/>
    <p:sldId id="271"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p:scale>
          <a:sx n="56" d="100"/>
          <a:sy n="56" d="100"/>
        </p:scale>
        <p:origin x="1065"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E4BEB7-4BBB-45D3-AA06-93A58EC7F240}" type="datetimeFigureOut">
              <a:rPr lang="en-US" smtClean="0"/>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C29FF69-B3B3-4EEB-9D1F-E4E29A154072}" type="slidenum">
              <a:rPr lang="en-US" smtClean="0"/>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EE4BEB7-4BBB-45D3-AA06-93A58EC7F24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9FF69-B3B3-4EEB-9D1F-E4E29A154072}" type="slidenum">
              <a:rPr lang="en-US" smtClean="0"/>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EE4BEB7-4BBB-45D3-AA06-93A58EC7F24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9FF69-B3B3-4EEB-9D1F-E4E29A154072}" type="slidenum">
              <a:rPr lang="en-US" smtClean="0"/>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EE4BEB7-4BBB-45D3-AA06-93A58EC7F24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29FF69-B3B3-4EEB-9D1F-E4E29A154072}" type="slidenum">
              <a:rPr lang="en-US" smtClean="0"/>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EE4BEB7-4BBB-45D3-AA06-93A58EC7F24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29FF69-B3B3-4EEB-9D1F-E4E29A154072}" type="slidenum">
              <a:rPr lang="en-US" smtClean="0"/>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E4BEB7-4BBB-45D3-AA06-93A58EC7F24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29FF69-B3B3-4EEB-9D1F-E4E29A154072}" type="slidenum">
              <a:rPr lang="en-US" smtClean="0"/>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E4BEB7-4BBB-45D3-AA06-93A58EC7F24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29FF69-B3B3-4EEB-9D1F-E4E29A15407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EE4BEB7-4BBB-45D3-AA06-93A58EC7F24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29FF69-B3B3-4EEB-9D1F-E4E29A154072}" type="slidenum">
              <a:rPr lang="en-US" smtClean="0"/>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EE4BEB7-4BBB-45D3-AA06-93A58EC7F240}" type="datetimeFigureOut">
              <a:rPr lang="en-US" smtClean="0"/>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C29FF69-B3B3-4EEB-9D1F-E4E29A154072}" type="slidenum">
              <a:rPr lang="en-US" smtClean="0"/>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EE4BEB7-4BBB-45D3-AA06-93A58EC7F24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9FF69-B3B3-4EEB-9D1F-E4E29A154072}" type="slidenum">
              <a:rPr lang="en-US" smtClean="0"/>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EE4BEB7-4BBB-45D3-AA06-93A58EC7F24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29FF69-B3B3-4EEB-9D1F-E4E29A154072}" type="slidenum">
              <a:rPr lang="en-US" smtClean="0"/>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2">
            <a:extLst>
              <a:ext uri="{28A0092B-C50C-407E-A947-70E740481C1C}">
                <a14:useLocalDpi xmlns:a14="http://schemas.microsoft.com/office/drawing/2010/main" val="0"/>
              </a:ext>
            </a:extLst>
          </a:blip>
          <a:srcRect t="1538" b="-1538"/>
          <a:stretch>
            <a:fillRect/>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EE4BEB7-4BBB-45D3-AA06-93A58EC7F240}" type="datetimeFigureOut">
              <a:rPr lang="en-US" smtClean="0"/>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C29FF69-B3B3-4EEB-9D1F-E4E29A154072}" type="slidenum">
              <a:rPr lang="en-US" smtClean="0"/>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5255" y="1894273"/>
            <a:ext cx="8637073" cy="1119672"/>
          </a:xfrm>
        </p:spPr>
        <p:txBody>
          <a:bodyPr>
            <a:normAutofit/>
          </a:bodyPr>
          <a:lstStyle/>
          <a:p>
            <a:r>
              <a:rPr lang="en-US" sz="3000" b="1" dirty="0"/>
              <a:t>Adidas Sales Data Analysis</a:t>
            </a:r>
            <a:endParaRPr lang="en-US" sz="3000" b="1" dirty="0"/>
          </a:p>
        </p:txBody>
      </p:sp>
      <p:sp>
        <p:nvSpPr>
          <p:cNvPr id="3" name="Subtitle 2"/>
          <p:cNvSpPr>
            <a:spLocks noGrp="1"/>
          </p:cNvSpPr>
          <p:nvPr>
            <p:ph type="subTitle" idx="1"/>
          </p:nvPr>
        </p:nvSpPr>
        <p:spPr>
          <a:xfrm>
            <a:off x="2455255" y="3943434"/>
            <a:ext cx="8637072" cy="1477348"/>
          </a:xfrm>
        </p:spPr>
        <p:txBody>
          <a:bodyPr>
            <a:noAutofit/>
          </a:bodyPr>
          <a:lstStyle/>
          <a:p>
            <a:r>
              <a:rPr lang="en-US" sz="1600" b="1" i="0" u="none" strike="noStrike" cap="all" dirty="0">
                <a:effectLst/>
                <a:latin typeface="Century Gothic" panose="020B0502020202020204" pitchFamily="34" charset="0"/>
              </a:rPr>
              <a:t>Data Analytics Capstone Project</a:t>
            </a:r>
            <a:r>
              <a:rPr lang="en-US" sz="1600" b="1" i="0" dirty="0">
                <a:effectLst/>
                <a:latin typeface="Century Gothic" panose="020B0502020202020204" pitchFamily="34" charset="0"/>
              </a:rPr>
              <a:t>​</a:t>
            </a:r>
            <a:endParaRPr lang="en-US" sz="1600" b="1" i="0" dirty="0">
              <a:effectLst/>
              <a:latin typeface="Century Gothic" panose="020B0502020202020204" pitchFamily="34" charset="0"/>
            </a:endParaRPr>
          </a:p>
          <a:p>
            <a:r>
              <a:rPr lang="en-US" sz="1600" b="1" dirty="0">
                <a:latin typeface="Century Gothic" panose="020B0502020202020204" pitchFamily="34" charset="0"/>
              </a:rPr>
              <a:t>GROUP 1</a:t>
            </a:r>
            <a:endParaRPr lang="en-US" sz="1600" b="1" dirty="0">
              <a:latin typeface="Century Gothic" panose="020B0502020202020204" pitchFamily="34" charset="0"/>
            </a:endParaRPr>
          </a:p>
          <a:p>
            <a:r>
              <a:rPr lang="en-US" sz="1600" b="1" dirty="0">
                <a:latin typeface="Century Gothic" panose="020B0502020202020204" pitchFamily="34" charset="0"/>
              </a:rPr>
              <a:t>JUNE 2026</a:t>
            </a:r>
            <a:endParaRPr lang="en-US" sz="1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299194"/>
            <a:ext cx="9603275" cy="522111"/>
          </a:xfrm>
        </p:spPr>
        <p:txBody>
          <a:bodyPr>
            <a:normAutofit/>
          </a:bodyPr>
          <a:lstStyle/>
          <a:p>
            <a:r>
              <a:rPr lang="en-US" sz="3000" b="1" dirty="0"/>
              <a:t>Background</a:t>
            </a:r>
            <a:endParaRPr lang="en-US" sz="3000" b="1" dirty="0"/>
          </a:p>
        </p:txBody>
      </p:sp>
      <p:sp>
        <p:nvSpPr>
          <p:cNvPr id="3" name="Content Placeholder 2"/>
          <p:cNvSpPr>
            <a:spLocks noGrp="1"/>
          </p:cNvSpPr>
          <p:nvPr>
            <p:ph idx="1"/>
          </p:nvPr>
        </p:nvSpPr>
        <p:spPr/>
        <p:txBody>
          <a:bodyPr>
            <a:normAutofit/>
          </a:bodyPr>
          <a:lstStyle/>
          <a:p>
            <a:pPr>
              <a:lnSpc>
                <a:spcPct val="150000"/>
              </a:lnSpc>
            </a:pPr>
            <a:r>
              <a:rPr lang="en-US" sz="1600" dirty="0">
                <a:solidFill>
                  <a:schemeClr val="tx2"/>
                </a:solidFill>
              </a:rPr>
              <a:t>Adidas sells products through multiple retailers and sales channels, including In-store, Online and Outlet stores. The company collects large volumes of sales data but requires insights to better understand customer purchasing behavior, product preferences, and channel performance.</a:t>
            </a:r>
            <a:endParaRPr lang="en-US" sz="1600" dirty="0">
              <a:solidFill>
                <a:schemeClr val="tx2"/>
              </a:solidFill>
            </a:endParaRPr>
          </a:p>
          <a:p>
            <a:pPr>
              <a:lnSpc>
                <a:spcPct val="150000"/>
              </a:lnSpc>
            </a:pPr>
            <a:r>
              <a:rPr lang="en-US" sz="1600" dirty="0">
                <a:solidFill>
                  <a:schemeClr val="tx2"/>
                </a:solidFill>
              </a:rPr>
              <a:t>The analysis focuses on identifying how customers interact with different sales channels and which products, regions, and retailers contribute most to business success.</a:t>
            </a:r>
            <a:endParaRPr lang="en-US" sz="1600" dirty="0">
              <a:solidFill>
                <a:schemeClr val="tx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94264"/>
            <a:ext cx="9603275" cy="587136"/>
          </a:xfrm>
        </p:spPr>
        <p:txBody>
          <a:bodyPr>
            <a:normAutofit/>
          </a:bodyPr>
          <a:lstStyle/>
          <a:p>
            <a:r>
              <a:rPr lang="en-US" sz="3000" b="1" dirty="0"/>
              <a:t>Objectives</a:t>
            </a:r>
            <a:endParaRPr lang="en-US" sz="3000" b="1" dirty="0"/>
          </a:p>
        </p:txBody>
      </p:sp>
      <p:sp>
        <p:nvSpPr>
          <p:cNvPr id="3" name="Content Placeholder 2"/>
          <p:cNvSpPr>
            <a:spLocks noGrp="1"/>
          </p:cNvSpPr>
          <p:nvPr>
            <p:ph idx="1"/>
          </p:nvPr>
        </p:nvSpPr>
        <p:spPr/>
        <p:txBody>
          <a:bodyPr>
            <a:normAutofit/>
          </a:bodyPr>
          <a:lstStyle/>
          <a:p>
            <a:pPr marL="0" indent="0">
              <a:lnSpc>
                <a:spcPct val="150000"/>
              </a:lnSpc>
              <a:buNone/>
            </a:pPr>
            <a:r>
              <a:rPr lang="en-US" sz="1600" dirty="0">
                <a:solidFill>
                  <a:schemeClr val="tx2"/>
                </a:solidFill>
              </a:rPr>
              <a:t>The Analysis aims to:</a:t>
            </a:r>
            <a:endParaRPr lang="en-US" sz="1600" dirty="0">
              <a:solidFill>
                <a:schemeClr val="tx2"/>
              </a:solidFill>
            </a:endParaRPr>
          </a:p>
          <a:p>
            <a:pPr>
              <a:lnSpc>
                <a:spcPct val="100000"/>
              </a:lnSpc>
              <a:buFont typeface="Arial" panose="020B0604020202020204" pitchFamily="34" charset="0"/>
              <a:buChar char="•"/>
            </a:pPr>
            <a:r>
              <a:rPr lang="en-US" sz="1600" dirty="0">
                <a:solidFill>
                  <a:schemeClr val="tx2"/>
                </a:solidFill>
              </a:rPr>
              <a:t>Evaluate overall Sales and profitability.</a:t>
            </a:r>
            <a:endParaRPr lang="en-US" sz="1600" dirty="0">
              <a:solidFill>
                <a:schemeClr val="tx2"/>
              </a:solidFill>
            </a:endParaRPr>
          </a:p>
          <a:p>
            <a:pPr>
              <a:lnSpc>
                <a:spcPct val="100000"/>
              </a:lnSpc>
              <a:buFont typeface="Arial" panose="020B0604020202020204" pitchFamily="34" charset="0"/>
              <a:buChar char="•"/>
            </a:pPr>
            <a:r>
              <a:rPr lang="en-US" sz="1600" dirty="0">
                <a:solidFill>
                  <a:schemeClr val="tx2"/>
                </a:solidFill>
              </a:rPr>
              <a:t>Understand customer purchasing patterns through product, channel, and regional sales performance.</a:t>
            </a:r>
            <a:endParaRPr lang="en-US" sz="1600" dirty="0">
              <a:solidFill>
                <a:schemeClr val="tx2"/>
              </a:solidFill>
            </a:endParaRPr>
          </a:p>
          <a:p>
            <a:pPr>
              <a:lnSpc>
                <a:spcPct val="100000"/>
              </a:lnSpc>
              <a:buFont typeface="Arial" panose="020B0604020202020204" pitchFamily="34" charset="0"/>
              <a:buChar char="•"/>
            </a:pPr>
            <a:r>
              <a:rPr lang="en-US" sz="1600" dirty="0">
                <a:solidFill>
                  <a:schemeClr val="tx2"/>
                </a:solidFill>
              </a:rPr>
              <a:t>Compare the performance of sales channels.</a:t>
            </a:r>
            <a:endParaRPr lang="en-US" sz="1600" dirty="0">
              <a:solidFill>
                <a:schemeClr val="tx2"/>
              </a:solidFill>
            </a:endParaRPr>
          </a:p>
          <a:p>
            <a:pPr>
              <a:lnSpc>
                <a:spcPct val="100000"/>
              </a:lnSpc>
              <a:buFont typeface="Arial" panose="020B0604020202020204" pitchFamily="34" charset="0"/>
              <a:buChar char="•"/>
            </a:pPr>
            <a:r>
              <a:rPr lang="en-US" sz="1600" dirty="0">
                <a:solidFill>
                  <a:schemeClr val="tx2"/>
                </a:solidFill>
              </a:rPr>
              <a:t>Identify the most preferred products. </a:t>
            </a:r>
            <a:endParaRPr lang="en-US" sz="1600" dirty="0">
              <a:solidFill>
                <a:schemeClr val="tx2"/>
              </a:solidFill>
            </a:endParaRPr>
          </a:p>
          <a:p>
            <a:pPr>
              <a:lnSpc>
                <a:spcPct val="100000"/>
              </a:lnSpc>
              <a:buFont typeface="Arial" panose="020B0604020202020204" pitchFamily="34" charset="0"/>
              <a:buChar char="•"/>
            </a:pPr>
            <a:r>
              <a:rPr lang="en-US" sz="1600" dirty="0">
                <a:solidFill>
                  <a:schemeClr val="tx2"/>
                </a:solidFill>
              </a:rPr>
              <a:t>Assess regional demand patterns.</a:t>
            </a:r>
            <a:endParaRPr lang="en-US" sz="1600" dirty="0">
              <a:solidFill>
                <a:schemeClr val="tx2"/>
              </a:solidFill>
            </a:endParaRPr>
          </a:p>
          <a:p>
            <a:pPr>
              <a:lnSpc>
                <a:spcPct val="100000"/>
              </a:lnSpc>
              <a:buFont typeface="Arial" panose="020B0604020202020204" pitchFamily="34" charset="0"/>
              <a:buChar char="•"/>
            </a:pPr>
            <a:r>
              <a:rPr lang="en-US" sz="1600" dirty="0">
                <a:solidFill>
                  <a:schemeClr val="tx2"/>
                </a:solidFill>
              </a:rPr>
              <a:t>Provide recommendations for future sales growth and profitability.</a:t>
            </a:r>
            <a:endParaRPr lang="en-US" sz="1600" dirty="0">
              <a:solidFill>
                <a:schemeClr val="tx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72166"/>
            <a:ext cx="9603275" cy="626654"/>
          </a:xfrm>
        </p:spPr>
        <p:txBody>
          <a:bodyPr>
            <a:normAutofit/>
          </a:bodyPr>
          <a:lstStyle/>
          <a:p>
            <a:r>
              <a:rPr lang="en-US" sz="3000" b="1" dirty="0"/>
              <a:t>Problem Statement</a:t>
            </a:r>
            <a:endParaRPr lang="en-US" sz="3000" b="1" dirty="0"/>
          </a:p>
        </p:txBody>
      </p:sp>
      <p:sp>
        <p:nvSpPr>
          <p:cNvPr id="3" name="Content Placeholder 2"/>
          <p:cNvSpPr>
            <a:spLocks noGrp="1"/>
          </p:cNvSpPr>
          <p:nvPr>
            <p:ph idx="1"/>
          </p:nvPr>
        </p:nvSpPr>
        <p:spPr/>
        <p:txBody>
          <a:bodyPr>
            <a:normAutofit/>
          </a:bodyPr>
          <a:lstStyle/>
          <a:p>
            <a:pPr marL="0" indent="0">
              <a:buNone/>
            </a:pPr>
            <a:r>
              <a:rPr lang="en-US" sz="1600" dirty="0">
                <a:solidFill>
                  <a:schemeClr val="tx2"/>
                </a:solidFill>
              </a:rPr>
              <a:t>Despite generating significant sales revenue, Adidas needs a better understanding of:</a:t>
            </a:r>
            <a:endParaRPr lang="en-US" sz="1600" dirty="0">
              <a:solidFill>
                <a:schemeClr val="tx2"/>
              </a:solidFill>
            </a:endParaRPr>
          </a:p>
          <a:p>
            <a:pPr>
              <a:buFont typeface="Arial" panose="020B0604020202020204" pitchFamily="34" charset="0"/>
              <a:buChar char="•"/>
            </a:pPr>
            <a:r>
              <a:rPr lang="en-US" sz="1600" dirty="0">
                <a:solidFill>
                  <a:schemeClr val="tx2"/>
                </a:solidFill>
              </a:rPr>
              <a:t>Customer purchasing preferences</a:t>
            </a:r>
            <a:endParaRPr lang="en-US" sz="1600" dirty="0">
              <a:solidFill>
                <a:schemeClr val="tx2"/>
              </a:solidFill>
            </a:endParaRPr>
          </a:p>
          <a:p>
            <a:pPr>
              <a:buFont typeface="Arial" panose="020B0604020202020204" pitchFamily="34" charset="0"/>
              <a:buChar char="•"/>
            </a:pPr>
            <a:r>
              <a:rPr lang="en-US" sz="1600" dirty="0">
                <a:solidFill>
                  <a:schemeClr val="tx2"/>
                </a:solidFill>
              </a:rPr>
              <a:t>The effectiveness of different sales channel</a:t>
            </a:r>
            <a:endParaRPr lang="en-US" sz="1600" dirty="0">
              <a:solidFill>
                <a:schemeClr val="tx2"/>
              </a:solidFill>
            </a:endParaRPr>
          </a:p>
          <a:p>
            <a:pPr>
              <a:buFont typeface="Arial" panose="020B0604020202020204" pitchFamily="34" charset="0"/>
              <a:buChar char="•"/>
            </a:pPr>
            <a:r>
              <a:rPr lang="en-US" sz="1600" dirty="0">
                <a:solidFill>
                  <a:schemeClr val="tx2"/>
                </a:solidFill>
              </a:rPr>
              <a:t>Products that drive the highest customer demand </a:t>
            </a:r>
            <a:endParaRPr lang="en-US" sz="1600" dirty="0">
              <a:solidFill>
                <a:schemeClr val="tx2"/>
              </a:solidFill>
            </a:endParaRPr>
          </a:p>
          <a:p>
            <a:pPr>
              <a:buFont typeface="Arial" panose="020B0604020202020204" pitchFamily="34" charset="0"/>
              <a:buChar char="•"/>
            </a:pPr>
            <a:r>
              <a:rPr lang="en-US" sz="1600" dirty="0">
                <a:solidFill>
                  <a:schemeClr val="tx2"/>
                </a:solidFill>
              </a:rPr>
              <a:t>Region with strong or weak sales performance</a:t>
            </a:r>
            <a:endParaRPr lang="en-US" sz="1600" dirty="0">
              <a:solidFill>
                <a:schemeClr val="tx2"/>
              </a:solidFill>
            </a:endParaRPr>
          </a:p>
          <a:p>
            <a:pPr>
              <a:buFont typeface="Arial" panose="020B0604020202020204" pitchFamily="34" charset="0"/>
              <a:buChar char="•"/>
            </a:pPr>
            <a:r>
              <a:rPr lang="en-US" sz="1600" dirty="0">
                <a:solidFill>
                  <a:schemeClr val="tx2"/>
                </a:solidFill>
              </a:rPr>
              <a:t>Opportunities  to improve profitability and channel performance</a:t>
            </a:r>
            <a:endParaRPr lang="en-US" sz="1600" dirty="0">
              <a:solidFill>
                <a:schemeClr val="tx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2076" y="1231739"/>
            <a:ext cx="9603275" cy="544596"/>
          </a:xfrm>
        </p:spPr>
        <p:txBody>
          <a:bodyPr>
            <a:normAutofit/>
          </a:bodyPr>
          <a:lstStyle/>
          <a:p>
            <a:r>
              <a:rPr lang="en-US" sz="3000" b="1" dirty="0"/>
              <a:t>KPI Overview</a:t>
            </a:r>
            <a:endParaRPr lang="en-US" sz="3000" b="1" dirty="0"/>
          </a:p>
        </p:txBody>
      </p:sp>
      <p:graphicFrame>
        <p:nvGraphicFramePr>
          <p:cNvPr id="4" name="Content Placeholder 3"/>
          <p:cNvGraphicFramePr>
            <a:graphicFrameLocks noGrp="1"/>
          </p:cNvGraphicFramePr>
          <p:nvPr>
            <p:ph idx="1"/>
          </p:nvPr>
        </p:nvGraphicFramePr>
        <p:xfrm>
          <a:off x="1450975" y="2016125"/>
          <a:ext cx="9604376" cy="3449638"/>
        </p:xfrm>
        <a:graphic>
          <a:graphicData uri="http://schemas.openxmlformats.org/drawingml/2006/table">
            <a:tbl>
              <a:tblPr firstRow="1" bandRow="1">
                <a:tableStyleId>{073A0DAA-6AF3-43AB-8588-CEC1D06C72B9}</a:tableStyleId>
              </a:tblPr>
              <a:tblGrid>
                <a:gridCol w="4802188"/>
                <a:gridCol w="4802188"/>
              </a:tblGrid>
              <a:tr h="370840">
                <a:tc>
                  <a:txBody>
                    <a:bodyPr/>
                    <a:lstStyle/>
                    <a:p>
                      <a:r>
                        <a:rPr lang="en-US" dirty="0"/>
                        <a:t>KPI</a:t>
                      </a:r>
                      <a:endParaRPr lang="en-US" dirty="0"/>
                    </a:p>
                  </a:txBody>
                  <a:tcPr marL="83515" marR="83515"/>
                </a:tc>
                <a:tc>
                  <a:txBody>
                    <a:bodyPr/>
                    <a:lstStyle/>
                    <a:p>
                      <a:r>
                        <a:rPr lang="en-US" dirty="0"/>
                        <a:t>Value</a:t>
                      </a:r>
                      <a:endParaRPr lang="en-US" dirty="0"/>
                    </a:p>
                  </a:txBody>
                  <a:tcPr marL="83515" marR="83515"/>
                </a:tc>
              </a:tr>
              <a:tr h="370840">
                <a:tc>
                  <a:txBody>
                    <a:bodyPr/>
                    <a:lstStyle/>
                    <a:p>
                      <a:r>
                        <a:rPr lang="en-US" dirty="0"/>
                        <a:t>Total Revenue</a:t>
                      </a:r>
                      <a:endParaRPr lang="en-US" dirty="0"/>
                    </a:p>
                  </a:txBody>
                  <a:tcPr marL="83515" marR="83515"/>
                </a:tc>
                <a:tc>
                  <a:txBody>
                    <a:bodyPr/>
                    <a:lstStyle/>
                    <a:p>
                      <a:r>
                        <a:rPr lang="en-US" dirty="0"/>
                        <a:t>$899.9M</a:t>
                      </a:r>
                      <a:endParaRPr lang="en-US" dirty="0"/>
                    </a:p>
                  </a:txBody>
                  <a:tcPr marL="83515" marR="83515"/>
                </a:tc>
              </a:tr>
              <a:tr h="370840">
                <a:tc>
                  <a:txBody>
                    <a:bodyPr/>
                    <a:lstStyle/>
                    <a:p>
                      <a:r>
                        <a:rPr lang="en-US" dirty="0"/>
                        <a:t>Total Profit</a:t>
                      </a:r>
                      <a:endParaRPr lang="en-US" dirty="0"/>
                    </a:p>
                  </a:txBody>
                  <a:tcPr marL="83515" marR="83515"/>
                </a:tc>
                <a:tc>
                  <a:txBody>
                    <a:bodyPr/>
                    <a:lstStyle/>
                    <a:p>
                      <a:r>
                        <a:rPr lang="en-US" dirty="0"/>
                        <a:t>$332.1M</a:t>
                      </a:r>
                      <a:endParaRPr lang="en-US" dirty="0"/>
                    </a:p>
                  </a:txBody>
                  <a:tcPr marL="83515" marR="83515"/>
                </a:tc>
              </a:tr>
              <a:tr h="370840">
                <a:tc>
                  <a:txBody>
                    <a:bodyPr/>
                    <a:lstStyle/>
                    <a:p>
                      <a:r>
                        <a:rPr lang="en-US" dirty="0"/>
                        <a:t>Total Units Sold</a:t>
                      </a:r>
                      <a:endParaRPr lang="en-US" dirty="0"/>
                    </a:p>
                  </a:txBody>
                  <a:tcPr marL="83515" marR="83515"/>
                </a:tc>
                <a:tc>
                  <a:txBody>
                    <a:bodyPr/>
                    <a:lstStyle/>
                    <a:p>
                      <a:r>
                        <a:rPr lang="en-US" dirty="0"/>
                        <a:t>2.48M</a:t>
                      </a:r>
                      <a:endParaRPr lang="en-US" dirty="0"/>
                    </a:p>
                  </a:txBody>
                  <a:tcPr marL="83515" marR="83515"/>
                </a:tc>
              </a:tr>
              <a:tr h="370840">
                <a:tc>
                  <a:txBody>
                    <a:bodyPr/>
                    <a:lstStyle/>
                    <a:p>
                      <a:r>
                        <a:rPr lang="en-US" dirty="0"/>
                        <a:t>Profit Margin</a:t>
                      </a:r>
                      <a:endParaRPr lang="en-US" dirty="0"/>
                    </a:p>
                  </a:txBody>
                  <a:tcPr marL="83515" marR="83515"/>
                </a:tc>
                <a:tc>
                  <a:txBody>
                    <a:bodyPr/>
                    <a:lstStyle/>
                    <a:p>
                      <a:r>
                        <a:rPr lang="en-US" dirty="0"/>
                        <a:t>42.30%</a:t>
                      </a:r>
                      <a:endParaRPr lang="en-US" dirty="0"/>
                    </a:p>
                  </a:txBody>
                  <a:tcPr marL="83515" marR="83515"/>
                </a:tc>
              </a:tr>
              <a:tr h="370840">
                <a:tc>
                  <a:txBody>
                    <a:bodyPr/>
                    <a:lstStyle/>
                    <a:p>
                      <a:r>
                        <a:rPr lang="en-US" dirty="0"/>
                        <a:t>Total Transactions</a:t>
                      </a:r>
                      <a:endParaRPr lang="en-US" dirty="0"/>
                    </a:p>
                  </a:txBody>
                  <a:tcPr marL="83515" marR="83515"/>
                </a:tc>
                <a:tc>
                  <a:txBody>
                    <a:bodyPr/>
                    <a:lstStyle/>
                    <a:p>
                      <a:r>
                        <a:rPr lang="en-US" dirty="0"/>
                        <a:t>9,648</a:t>
                      </a:r>
                      <a:endParaRPr lang="en-US" dirty="0"/>
                    </a:p>
                  </a:txBody>
                  <a:tcPr marL="83515" marR="8351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67037"/>
            <a:ext cx="9603275" cy="1049235"/>
          </a:xfrm>
        </p:spPr>
        <p:txBody>
          <a:bodyPr>
            <a:normAutofit/>
          </a:bodyPr>
          <a:lstStyle/>
          <a:p>
            <a:r>
              <a:rPr lang="en-US" sz="3000" b="1" dirty="0"/>
              <a:t>Customers’ Behavior Through Sales Channel</a:t>
            </a:r>
            <a:endParaRPr lang="en-US" sz="3000" b="1" dirty="0"/>
          </a:p>
        </p:txBody>
      </p:sp>
      <p:sp>
        <p:nvSpPr>
          <p:cNvPr id="3" name="Content Placeholder 2"/>
          <p:cNvSpPr>
            <a:spLocks noGrp="1"/>
          </p:cNvSpPr>
          <p:nvPr>
            <p:ph idx="1"/>
          </p:nvPr>
        </p:nvSpPr>
        <p:spPr>
          <a:xfrm>
            <a:off x="1451579" y="2015732"/>
            <a:ext cx="5203663" cy="4265147"/>
          </a:xfrm>
        </p:spPr>
        <p:txBody>
          <a:bodyPr>
            <a:noAutofit/>
          </a:bodyPr>
          <a:lstStyle/>
          <a:p>
            <a:pPr marL="0" indent="0">
              <a:buNone/>
            </a:pPr>
            <a:r>
              <a:rPr lang="en-US" sz="1600" dirty="0">
                <a:solidFill>
                  <a:schemeClr val="tx2"/>
                </a:solidFill>
              </a:rPr>
              <a:t>Findings:</a:t>
            </a:r>
            <a:endParaRPr lang="en-US" sz="1600" dirty="0">
              <a:solidFill>
                <a:schemeClr val="tx2"/>
              </a:solidFill>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1600" b="0" i="0" u="none" strike="noStrike" cap="none" normalizeH="0" baseline="0" dirty="0">
              <a:ln>
                <a:noFill/>
              </a:ln>
              <a:solidFill>
                <a:schemeClr val="tx2"/>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a:ln>
                  <a:noFill/>
                </a:ln>
                <a:solidFill>
                  <a:schemeClr val="tx2"/>
                </a:solidFill>
                <a:effectLst/>
              </a:rPr>
              <a:t>In-Store generated the highest revenue ($356.6M). </a:t>
            </a:r>
            <a:endParaRPr kumimoji="0" lang="en-US" altLang="en-US" sz="1600" b="0" i="0" u="none" strike="noStrike" cap="none" normalizeH="0" baseline="0" dirty="0">
              <a:ln>
                <a:noFill/>
              </a:ln>
              <a:solidFill>
                <a:schemeClr val="tx2"/>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a:ln>
                  <a:noFill/>
                </a:ln>
                <a:solidFill>
                  <a:schemeClr val="tx2"/>
                </a:solidFill>
                <a:effectLst/>
              </a:rPr>
              <a:t>Outlet generated the second-highest revenue ($295.6M). </a:t>
            </a:r>
            <a:endParaRPr kumimoji="0" lang="en-US" altLang="en-US" sz="1600" b="0" i="0" u="none" strike="noStrike" cap="none" normalizeH="0" baseline="0" dirty="0">
              <a:ln>
                <a:noFill/>
              </a:ln>
              <a:solidFill>
                <a:schemeClr val="tx2"/>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a:ln>
                  <a:noFill/>
                </a:ln>
                <a:solidFill>
                  <a:schemeClr val="tx2"/>
                </a:solidFill>
                <a:effectLst/>
              </a:rPr>
              <a:t>Online generated the lowest revenue ($247.7M). </a:t>
            </a:r>
            <a:endParaRPr kumimoji="0" lang="en-US" altLang="en-US" sz="1600" b="0" i="0" u="none" strike="noStrike" cap="none" normalizeH="0" baseline="0" dirty="0">
              <a:ln>
                <a:noFill/>
              </a:ln>
              <a:solidFill>
                <a:schemeClr val="tx2"/>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a:ln>
                  <a:noFill/>
                </a:ln>
                <a:solidFill>
                  <a:schemeClr val="tx2"/>
                </a:solidFill>
                <a:effectLst/>
              </a:rPr>
              <a:t>Online achieved the highest profit margin (46.4%). </a:t>
            </a:r>
            <a:endParaRPr kumimoji="0" lang="en-US" altLang="en-US" sz="1600" b="0" i="0" u="none" strike="noStrike" cap="none" normalizeH="0" baseline="0" dirty="0">
              <a:ln>
                <a:noFill/>
              </a:ln>
              <a:solidFill>
                <a:schemeClr val="tx2"/>
              </a:solidFill>
              <a:effectLst/>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1600" b="0" i="0" u="none" strike="noStrike" cap="none" normalizeH="0" baseline="0" dirty="0">
              <a:ln>
                <a:noFill/>
              </a:ln>
              <a:solidFill>
                <a:schemeClr val="tx2"/>
              </a:solidFill>
              <a:effectLst/>
              <a:latin typeface="Arial" panose="020B0604020202020204" pitchFamily="34" charset="0"/>
            </a:endParaRPr>
          </a:p>
          <a:p>
            <a:pPr marL="0" indent="0">
              <a:buNone/>
            </a:pPr>
            <a:r>
              <a:rPr lang="en-US" sz="1600" dirty="0">
                <a:solidFill>
                  <a:schemeClr val="tx2"/>
                </a:solidFill>
              </a:rPr>
              <a:t>Key Insight:</a:t>
            </a:r>
            <a:endParaRPr lang="en-US" sz="1600" dirty="0">
              <a:solidFill>
                <a:schemeClr val="tx2"/>
              </a:solidFill>
            </a:endParaRPr>
          </a:p>
          <a:p>
            <a:pPr marL="0" indent="0">
              <a:buNone/>
            </a:pPr>
            <a:r>
              <a:rPr lang="en-US" sz="1600" dirty="0">
                <a:solidFill>
                  <a:schemeClr val="tx2"/>
                </a:solidFill>
              </a:rPr>
              <a:t> While In-Store remains the largest revenue-generating channel, the Online channel delivers the highest profit margin, indicating greater profitability per dollar of sales.</a:t>
            </a:r>
            <a:endParaRPr lang="en-US" sz="1600" dirty="0">
              <a:solidFill>
                <a:schemeClr val="tx2"/>
              </a:solidFill>
            </a:endParaRPr>
          </a:p>
        </p:txBody>
      </p:sp>
      <p:pic>
        <p:nvPicPr>
          <p:cNvPr id="5" name="Picture 4"/>
          <p:cNvPicPr>
            <a:picLocks noChangeAspect="1"/>
          </p:cNvPicPr>
          <p:nvPr/>
        </p:nvPicPr>
        <p:blipFill>
          <a:blip r:embed="rId1"/>
          <a:stretch>
            <a:fillRect/>
          </a:stretch>
        </p:blipFill>
        <p:spPr>
          <a:xfrm>
            <a:off x="6887981" y="1981060"/>
            <a:ext cx="4847694" cy="40099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67037"/>
            <a:ext cx="9603275" cy="1049235"/>
          </a:xfrm>
        </p:spPr>
        <p:txBody>
          <a:bodyPr>
            <a:normAutofit fontScale="90000"/>
          </a:bodyPr>
          <a:lstStyle/>
          <a:p>
            <a:br>
              <a:rPr lang="en-US" sz="3000" b="1" dirty="0"/>
            </a:br>
            <a:r>
              <a:rPr lang="en-US" sz="3000" b="1" dirty="0"/>
              <a:t>Product Preference Analysis</a:t>
            </a:r>
            <a:br>
              <a:rPr lang="en-US" sz="3000" b="1" dirty="0"/>
            </a:br>
            <a:endParaRPr lang="en-US" sz="3000" b="1" dirty="0"/>
          </a:p>
        </p:txBody>
      </p:sp>
      <p:sp>
        <p:nvSpPr>
          <p:cNvPr id="8" name="TextBox 7"/>
          <p:cNvSpPr txBox="1"/>
          <p:nvPr/>
        </p:nvSpPr>
        <p:spPr>
          <a:xfrm>
            <a:off x="1451579" y="2205912"/>
            <a:ext cx="4644421" cy="2308324"/>
          </a:xfrm>
          <a:prstGeom prst="rect">
            <a:avLst/>
          </a:prstGeom>
          <a:noFill/>
        </p:spPr>
        <p:txBody>
          <a:bodyPr wrap="square">
            <a:spAutoFit/>
          </a:bodyPr>
          <a:lstStyle/>
          <a:p>
            <a:pPr marL="0" indent="0">
              <a:lnSpc>
                <a:spcPct val="100000"/>
              </a:lnSpc>
              <a:buNone/>
            </a:pPr>
            <a:r>
              <a:rPr lang="en-US" sz="1600" dirty="0">
                <a:solidFill>
                  <a:schemeClr val="tx2"/>
                </a:solidFill>
              </a:rPr>
              <a:t>Highlight:</a:t>
            </a:r>
            <a:endParaRPr lang="en-US" sz="1600" dirty="0">
              <a:solidFill>
                <a:schemeClr val="tx2"/>
              </a:solidFill>
            </a:endParaRPr>
          </a:p>
          <a:p>
            <a:pPr marL="457200" indent="-457200">
              <a:lnSpc>
                <a:spcPct val="100000"/>
              </a:lnSpc>
              <a:buFont typeface="+mj-lt"/>
              <a:buAutoNum type="arabicPeriod"/>
            </a:pPr>
            <a:r>
              <a:rPr lang="en-US" sz="1600" dirty="0">
                <a:solidFill>
                  <a:schemeClr val="tx2"/>
                </a:solidFill>
              </a:rPr>
              <a:t>Men’s Street Footwear</a:t>
            </a:r>
            <a:endParaRPr lang="en-US" sz="1600" dirty="0">
              <a:solidFill>
                <a:schemeClr val="tx2"/>
              </a:solidFill>
            </a:endParaRPr>
          </a:p>
          <a:p>
            <a:pPr marL="457200" indent="-457200">
              <a:lnSpc>
                <a:spcPct val="100000"/>
              </a:lnSpc>
              <a:buFont typeface="+mj-lt"/>
              <a:buAutoNum type="arabicPeriod"/>
            </a:pPr>
            <a:r>
              <a:rPr lang="en-US" sz="1600" dirty="0">
                <a:solidFill>
                  <a:schemeClr val="tx2"/>
                </a:solidFill>
              </a:rPr>
              <a:t>Women’s Apparel</a:t>
            </a:r>
            <a:endParaRPr lang="en-US" sz="1600" dirty="0">
              <a:solidFill>
                <a:schemeClr val="tx2"/>
              </a:solidFill>
            </a:endParaRPr>
          </a:p>
          <a:p>
            <a:pPr marL="457200" indent="-457200">
              <a:lnSpc>
                <a:spcPct val="100000"/>
              </a:lnSpc>
              <a:buFont typeface="+mj-lt"/>
              <a:buAutoNum type="arabicPeriod"/>
            </a:pPr>
            <a:r>
              <a:rPr lang="en-US" sz="1600" dirty="0">
                <a:solidFill>
                  <a:schemeClr val="tx2"/>
                </a:solidFill>
              </a:rPr>
              <a:t>Men’s Athletic wear</a:t>
            </a:r>
            <a:endParaRPr lang="en-US" sz="1600" dirty="0">
              <a:solidFill>
                <a:schemeClr val="tx2"/>
              </a:solidFill>
            </a:endParaRPr>
          </a:p>
          <a:p>
            <a:pPr marL="0" indent="0">
              <a:lnSpc>
                <a:spcPct val="100000"/>
              </a:lnSpc>
              <a:buNone/>
            </a:pPr>
            <a:endParaRPr lang="en-US" sz="1600" dirty="0">
              <a:solidFill>
                <a:schemeClr val="tx2"/>
              </a:solidFill>
            </a:endParaRPr>
          </a:p>
          <a:p>
            <a:pPr marL="0" indent="0">
              <a:lnSpc>
                <a:spcPct val="100000"/>
              </a:lnSpc>
              <a:buNone/>
            </a:pPr>
            <a:r>
              <a:rPr lang="en-US" sz="1600" dirty="0">
                <a:solidFill>
                  <a:schemeClr val="tx2"/>
                </a:solidFill>
              </a:rPr>
              <a:t>Key Insight:</a:t>
            </a:r>
            <a:endParaRPr lang="en-US" sz="1600" dirty="0">
              <a:solidFill>
                <a:schemeClr val="tx2"/>
              </a:solidFill>
            </a:endParaRPr>
          </a:p>
          <a:p>
            <a:pPr marL="0" indent="0">
              <a:lnSpc>
                <a:spcPct val="100000"/>
              </a:lnSpc>
              <a:buNone/>
            </a:pPr>
            <a:r>
              <a:rPr lang="en-US" sz="1600" dirty="0">
                <a:solidFill>
                  <a:schemeClr val="tx2"/>
                </a:solidFill>
              </a:rPr>
              <a:t>Men's Street Footwear generated the </a:t>
            </a:r>
            <a:endParaRPr lang="en-US" sz="1600" dirty="0">
              <a:solidFill>
                <a:schemeClr val="tx2"/>
              </a:solidFill>
            </a:endParaRPr>
          </a:p>
          <a:p>
            <a:pPr marL="0" indent="0">
              <a:lnSpc>
                <a:spcPct val="100000"/>
              </a:lnSpc>
              <a:buNone/>
            </a:pPr>
            <a:r>
              <a:rPr lang="en-US" sz="1600" dirty="0">
                <a:solidFill>
                  <a:schemeClr val="tx2"/>
                </a:solidFill>
              </a:rPr>
              <a:t>highest revenue, profit, profit margin, and unit sales, indicating strong market demand.</a:t>
            </a:r>
            <a:endParaRPr lang="en-US" sz="1600" dirty="0">
              <a:solidFill>
                <a:schemeClr val="tx2"/>
              </a:solidFill>
            </a:endParaRPr>
          </a:p>
        </p:txBody>
      </p:sp>
      <p:pic>
        <p:nvPicPr>
          <p:cNvPr id="17" name="Picture 16"/>
          <p:cNvPicPr>
            <a:picLocks noChangeAspect="1"/>
          </p:cNvPicPr>
          <p:nvPr/>
        </p:nvPicPr>
        <p:blipFill>
          <a:blip r:embed="rId1"/>
          <a:stretch>
            <a:fillRect/>
          </a:stretch>
        </p:blipFill>
        <p:spPr>
          <a:xfrm>
            <a:off x="6096000" y="2068642"/>
            <a:ext cx="5797296" cy="36426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8" y="704652"/>
            <a:ext cx="9603275" cy="1060537"/>
          </a:xfrm>
        </p:spPr>
        <p:txBody>
          <a:bodyPr>
            <a:normAutofit/>
          </a:bodyPr>
          <a:lstStyle/>
          <a:p>
            <a:br>
              <a:rPr lang="en-US" sz="3000" b="1" dirty="0"/>
            </a:br>
            <a:r>
              <a:rPr lang="en-US" sz="3000" b="1" dirty="0"/>
              <a:t>Top Performing Products Across Region</a:t>
            </a:r>
            <a:endParaRPr lang="en-US" sz="3000" b="1" dirty="0"/>
          </a:p>
        </p:txBody>
      </p:sp>
      <p:sp>
        <p:nvSpPr>
          <p:cNvPr id="3" name="Content Placeholder 2"/>
          <p:cNvSpPr>
            <a:spLocks noGrp="1"/>
          </p:cNvSpPr>
          <p:nvPr>
            <p:ph idx="1"/>
          </p:nvPr>
        </p:nvSpPr>
        <p:spPr>
          <a:xfrm>
            <a:off x="1451580" y="2015732"/>
            <a:ext cx="3565694" cy="3450613"/>
          </a:xfrm>
        </p:spPr>
        <p:txBody>
          <a:bodyPr>
            <a:noAutofit/>
          </a:bodyPr>
          <a:lstStyle/>
          <a:p>
            <a:pPr marL="0" indent="0">
              <a:lnSpc>
                <a:spcPct val="100000"/>
              </a:lnSpc>
              <a:buNone/>
            </a:pPr>
            <a:endParaRPr lang="en-US" sz="1600" dirty="0"/>
          </a:p>
          <a:p>
            <a:pPr marL="0" indent="0">
              <a:lnSpc>
                <a:spcPct val="100000"/>
              </a:lnSpc>
              <a:buNone/>
            </a:pPr>
            <a:r>
              <a:rPr lang="en-US" sz="1600" dirty="0">
                <a:solidFill>
                  <a:schemeClr val="tx2"/>
                </a:solidFill>
              </a:rPr>
              <a:t>Insight:</a:t>
            </a:r>
            <a:endParaRPr lang="en-US" sz="1600" dirty="0">
              <a:solidFill>
                <a:schemeClr val="tx2"/>
              </a:solidFill>
            </a:endParaRPr>
          </a:p>
          <a:p>
            <a:pPr marL="0" indent="0">
              <a:lnSpc>
                <a:spcPct val="150000"/>
              </a:lnSpc>
              <a:buNone/>
            </a:pPr>
            <a:r>
              <a:rPr lang="en-US" sz="1600" dirty="0">
                <a:solidFill>
                  <a:schemeClr val="tx2"/>
                </a:solidFill>
              </a:rPr>
              <a:t>Men's Street Footwear consistently generated strong revenue and profit across all regions, particularly in the West region, indicating broad market demand and growth potential.</a:t>
            </a:r>
            <a:endParaRPr lang="en-US" sz="1600" dirty="0">
              <a:solidFill>
                <a:schemeClr val="tx2"/>
              </a:solidFill>
            </a:endParaRPr>
          </a:p>
        </p:txBody>
      </p:sp>
      <p:pic>
        <p:nvPicPr>
          <p:cNvPr id="5" name="Picture 4"/>
          <p:cNvPicPr>
            <a:picLocks noChangeAspect="1"/>
          </p:cNvPicPr>
          <p:nvPr/>
        </p:nvPicPr>
        <p:blipFill>
          <a:blip r:embed="rId1"/>
          <a:stretch>
            <a:fillRect/>
          </a:stretch>
        </p:blipFill>
        <p:spPr>
          <a:xfrm>
            <a:off x="5017273" y="2015732"/>
            <a:ext cx="7020915" cy="36911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71779"/>
            <a:ext cx="9603275" cy="587136"/>
          </a:xfrm>
        </p:spPr>
        <p:txBody>
          <a:bodyPr>
            <a:normAutofit/>
          </a:bodyPr>
          <a:lstStyle/>
          <a:p>
            <a:r>
              <a:rPr lang="en-US" sz="3000" b="1" dirty="0"/>
              <a:t>Regional Customer Demand</a:t>
            </a:r>
            <a:endParaRPr lang="en-US" sz="3000" b="1" dirty="0"/>
          </a:p>
        </p:txBody>
      </p:sp>
      <p:sp>
        <p:nvSpPr>
          <p:cNvPr id="3" name="Content Placeholder 2"/>
          <p:cNvSpPr>
            <a:spLocks noGrp="1"/>
          </p:cNvSpPr>
          <p:nvPr>
            <p:ph idx="1"/>
          </p:nvPr>
        </p:nvSpPr>
        <p:spPr>
          <a:xfrm>
            <a:off x="1451579" y="2015732"/>
            <a:ext cx="5124150" cy="4029876"/>
          </a:xfrm>
        </p:spPr>
        <p:txBody>
          <a:bodyPr>
            <a:noAutofit/>
          </a:bodyPr>
          <a:lstStyle/>
          <a:p>
            <a:pPr marL="0" indent="0">
              <a:buNone/>
            </a:pPr>
            <a:r>
              <a:rPr lang="en-US" sz="1600" dirty="0">
                <a:solidFill>
                  <a:schemeClr val="tx2"/>
                </a:solidFill>
              </a:rPr>
              <a:t>Findings:</a:t>
            </a:r>
            <a:endParaRPr lang="en-US" sz="1600" dirty="0">
              <a:solidFill>
                <a:schemeClr val="tx2"/>
              </a:solidFill>
            </a:endParaRPr>
          </a:p>
          <a:p>
            <a:pPr>
              <a:buFont typeface="Wingdings" panose="05000000000000000000" pitchFamily="2" charset="2"/>
              <a:buChar char="Ø"/>
            </a:pPr>
            <a:r>
              <a:rPr lang="en-US" sz="1600" dirty="0">
                <a:solidFill>
                  <a:schemeClr val="tx2"/>
                </a:solidFill>
              </a:rPr>
              <a:t>West Region has the highest revenue</a:t>
            </a:r>
            <a:endParaRPr lang="en-US" sz="1600" dirty="0">
              <a:solidFill>
                <a:schemeClr val="tx2"/>
              </a:solidFill>
            </a:endParaRPr>
          </a:p>
          <a:p>
            <a:pPr>
              <a:buFont typeface="Wingdings" panose="05000000000000000000" pitchFamily="2" charset="2"/>
              <a:buChar char="Ø"/>
            </a:pPr>
            <a:r>
              <a:rPr lang="en-US" sz="1600" dirty="0">
                <a:solidFill>
                  <a:schemeClr val="tx2"/>
                </a:solidFill>
              </a:rPr>
              <a:t>Midwest has the lowest revenue</a:t>
            </a:r>
            <a:endParaRPr lang="en-US" sz="1600" dirty="0">
              <a:solidFill>
                <a:schemeClr val="tx2"/>
              </a:solidFill>
            </a:endParaRPr>
          </a:p>
          <a:p>
            <a:pPr>
              <a:buFont typeface="Wingdings" panose="05000000000000000000" pitchFamily="2" charset="2"/>
              <a:buChar char="Ø"/>
            </a:pPr>
            <a:r>
              <a:rPr lang="en-US" sz="1600" dirty="0">
                <a:solidFill>
                  <a:schemeClr val="tx2"/>
                </a:solidFill>
              </a:rPr>
              <a:t>South Region achieved the highest profit margin (46.7%).</a:t>
            </a:r>
            <a:endParaRPr lang="en-US" sz="1600" dirty="0">
              <a:solidFill>
                <a:schemeClr val="tx2"/>
              </a:solidFill>
            </a:endParaRPr>
          </a:p>
          <a:p>
            <a:pPr marL="0" indent="0">
              <a:buNone/>
            </a:pPr>
            <a:endParaRPr lang="en-US" sz="1600" dirty="0">
              <a:solidFill>
                <a:schemeClr val="tx2"/>
              </a:solidFill>
            </a:endParaRPr>
          </a:p>
          <a:p>
            <a:pPr marL="0" indent="0">
              <a:buNone/>
            </a:pPr>
            <a:r>
              <a:rPr lang="en-US" sz="1600" dirty="0">
                <a:solidFill>
                  <a:schemeClr val="tx2"/>
                </a:solidFill>
              </a:rPr>
              <a:t> Insight:</a:t>
            </a:r>
            <a:endParaRPr lang="en-US" sz="1600" dirty="0">
              <a:solidFill>
                <a:schemeClr val="tx2"/>
              </a:solidFill>
            </a:endParaRPr>
          </a:p>
          <a:p>
            <a:pPr marL="0" indent="0">
              <a:buNone/>
            </a:pPr>
            <a:r>
              <a:rPr lang="en-US" sz="1600" dirty="0">
                <a:solidFill>
                  <a:schemeClr val="tx2"/>
                </a:solidFill>
              </a:rPr>
              <a:t>The West region is Adidas' strongest market in terms</a:t>
            </a:r>
            <a:endParaRPr lang="en-US" sz="1600" dirty="0">
              <a:solidFill>
                <a:schemeClr val="tx2"/>
              </a:solidFill>
            </a:endParaRPr>
          </a:p>
          <a:p>
            <a:pPr marL="0" indent="0">
              <a:buNone/>
            </a:pPr>
            <a:r>
              <a:rPr lang="en-US" sz="1600" dirty="0">
                <a:solidFill>
                  <a:schemeClr val="tx2"/>
                </a:solidFill>
              </a:rPr>
              <a:t>of revenue and profit, while the South region demonstrates</a:t>
            </a:r>
            <a:endParaRPr lang="en-US" sz="1600" dirty="0">
              <a:solidFill>
                <a:schemeClr val="tx2"/>
              </a:solidFill>
            </a:endParaRPr>
          </a:p>
          <a:p>
            <a:pPr marL="0" indent="0">
              <a:buNone/>
            </a:pPr>
            <a:r>
              <a:rPr lang="en-US" sz="1600" dirty="0">
                <a:solidFill>
                  <a:schemeClr val="tx2"/>
                </a:solidFill>
              </a:rPr>
              <a:t>particularly strong profitability.</a:t>
            </a:r>
            <a:endParaRPr lang="en-US" sz="1600" dirty="0">
              <a:solidFill>
                <a:schemeClr val="tx2"/>
              </a:solidFill>
            </a:endParaRPr>
          </a:p>
        </p:txBody>
      </p:sp>
      <p:pic>
        <p:nvPicPr>
          <p:cNvPr id="5" name="Picture 4"/>
          <p:cNvPicPr>
            <a:picLocks noChangeAspect="1"/>
          </p:cNvPicPr>
          <p:nvPr/>
        </p:nvPicPr>
        <p:blipFill>
          <a:blip r:embed="rId1"/>
          <a:stretch>
            <a:fillRect/>
          </a:stretch>
        </p:blipFill>
        <p:spPr>
          <a:xfrm>
            <a:off x="6738603" y="1842968"/>
            <a:ext cx="4995672" cy="40856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29237"/>
            <a:ext cx="9603275" cy="587136"/>
          </a:xfrm>
        </p:spPr>
        <p:txBody>
          <a:bodyPr>
            <a:normAutofit/>
          </a:bodyPr>
          <a:lstStyle/>
          <a:p>
            <a:r>
              <a:rPr lang="en-US" sz="3000" b="1" dirty="0"/>
              <a:t>Retailer Performance</a:t>
            </a:r>
            <a:endParaRPr lang="en-US" sz="3000" b="1" dirty="0"/>
          </a:p>
        </p:txBody>
      </p:sp>
      <p:sp>
        <p:nvSpPr>
          <p:cNvPr id="3" name="Content Placeholder 2"/>
          <p:cNvSpPr>
            <a:spLocks noGrp="1"/>
          </p:cNvSpPr>
          <p:nvPr>
            <p:ph idx="1"/>
          </p:nvPr>
        </p:nvSpPr>
        <p:spPr/>
        <p:txBody>
          <a:bodyPr>
            <a:normAutofit/>
          </a:bodyPr>
          <a:lstStyle/>
          <a:p>
            <a:pPr marL="0" indent="0">
              <a:buNone/>
            </a:pPr>
            <a:r>
              <a:rPr lang="en-US" sz="1500" dirty="0">
                <a:solidFill>
                  <a:schemeClr val="tx2"/>
                </a:solidFill>
              </a:rPr>
              <a:t>Findings:</a:t>
            </a:r>
            <a:endParaRPr lang="en-US" sz="1500" dirty="0">
              <a:solidFill>
                <a:schemeClr val="tx2"/>
              </a:solidFill>
            </a:endParaRPr>
          </a:p>
          <a:p>
            <a:pPr>
              <a:buFont typeface="Wingdings" panose="05000000000000000000" pitchFamily="2" charset="2"/>
              <a:buChar char="Ø"/>
            </a:pPr>
            <a:r>
              <a:rPr lang="en-US" sz="1500" dirty="0">
                <a:solidFill>
                  <a:schemeClr val="tx2"/>
                </a:solidFill>
              </a:rPr>
              <a:t>West Gear generated the highest revenue and profit</a:t>
            </a:r>
            <a:endParaRPr lang="en-US" sz="1500" dirty="0">
              <a:solidFill>
                <a:schemeClr val="tx2"/>
              </a:solidFill>
            </a:endParaRPr>
          </a:p>
          <a:p>
            <a:pPr>
              <a:buFont typeface="Wingdings" panose="05000000000000000000" pitchFamily="2" charset="2"/>
              <a:buChar char="Ø"/>
            </a:pPr>
            <a:r>
              <a:rPr lang="en-US" sz="1500" dirty="0">
                <a:solidFill>
                  <a:schemeClr val="tx2"/>
                </a:solidFill>
              </a:rPr>
              <a:t>Walmart generated the lowest revenue and profit  </a:t>
            </a:r>
            <a:endParaRPr lang="en-US" sz="1500" dirty="0">
              <a:solidFill>
                <a:schemeClr val="tx2"/>
              </a:solidFill>
            </a:endParaRPr>
          </a:p>
          <a:p>
            <a:pPr>
              <a:buFont typeface="Wingdings" panose="05000000000000000000" pitchFamily="2" charset="2"/>
              <a:buChar char="Ø"/>
            </a:pPr>
            <a:endParaRPr lang="en-US" sz="1500" dirty="0">
              <a:solidFill>
                <a:schemeClr val="tx2"/>
              </a:solidFill>
            </a:endParaRPr>
          </a:p>
          <a:p>
            <a:pPr marL="0" indent="0">
              <a:buNone/>
            </a:pPr>
            <a:r>
              <a:rPr lang="en-US" sz="1500" dirty="0">
                <a:solidFill>
                  <a:schemeClr val="tx2"/>
                </a:solidFill>
              </a:rPr>
              <a:t>Insight: West Gear is Adidas' most valuable retail </a:t>
            </a:r>
            <a:endParaRPr lang="en-US" sz="1500" dirty="0">
              <a:solidFill>
                <a:schemeClr val="tx2"/>
              </a:solidFill>
            </a:endParaRPr>
          </a:p>
          <a:p>
            <a:pPr marL="0" indent="0">
              <a:buNone/>
            </a:pPr>
            <a:r>
              <a:rPr lang="en-US" sz="1500" dirty="0">
                <a:solidFill>
                  <a:schemeClr val="tx2"/>
                </a:solidFill>
              </a:rPr>
              <a:t>partner and should remain a key focus for strategic </a:t>
            </a:r>
            <a:endParaRPr lang="en-US" sz="1500" dirty="0">
              <a:solidFill>
                <a:schemeClr val="tx2"/>
              </a:solidFill>
            </a:endParaRPr>
          </a:p>
          <a:p>
            <a:pPr marL="0" indent="0">
              <a:buNone/>
            </a:pPr>
            <a:r>
              <a:rPr lang="en-US" sz="1500" dirty="0">
                <a:solidFill>
                  <a:schemeClr val="tx2"/>
                </a:solidFill>
              </a:rPr>
              <a:t>collaboration and promotional activities..</a:t>
            </a:r>
            <a:endParaRPr lang="en-US" sz="1500" dirty="0">
              <a:solidFill>
                <a:schemeClr val="tx2"/>
              </a:solidFill>
            </a:endParaRPr>
          </a:p>
        </p:txBody>
      </p:sp>
      <p:pic>
        <p:nvPicPr>
          <p:cNvPr id="5" name="Picture 4"/>
          <p:cNvPicPr>
            <a:picLocks noChangeAspect="1"/>
          </p:cNvPicPr>
          <p:nvPr/>
        </p:nvPicPr>
        <p:blipFill>
          <a:blip r:embed="rId1"/>
          <a:stretch>
            <a:fillRect/>
          </a:stretch>
        </p:blipFill>
        <p:spPr>
          <a:xfrm>
            <a:off x="6155961" y="2015732"/>
            <a:ext cx="5742706" cy="39054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sz="3000" b="1" dirty="0"/>
              <a:t>Product Demand Over Time</a:t>
            </a:r>
            <a:endParaRPr lang="en-US" dirty="0"/>
          </a:p>
        </p:txBody>
      </p:sp>
      <p:sp>
        <p:nvSpPr>
          <p:cNvPr id="7" name="Content Placeholder 6"/>
          <p:cNvSpPr>
            <a:spLocks noGrp="1"/>
          </p:cNvSpPr>
          <p:nvPr>
            <p:ph idx="1"/>
          </p:nvPr>
        </p:nvSpPr>
        <p:spPr>
          <a:xfrm>
            <a:off x="1451580" y="2015732"/>
            <a:ext cx="4122284" cy="3450613"/>
          </a:xfrm>
        </p:spPr>
        <p:txBody>
          <a:bodyPr>
            <a:noAutofit/>
          </a:bodyPr>
          <a:lstStyle/>
          <a:p>
            <a:pPr marL="0" indent="0">
              <a:buNone/>
            </a:pPr>
            <a:r>
              <a:rPr lang="en-US" sz="1500" dirty="0">
                <a:solidFill>
                  <a:schemeClr val="tx2"/>
                </a:solidFill>
              </a:rPr>
              <a:t>Findings:</a:t>
            </a:r>
            <a:endParaRPr lang="en-US" sz="1500" dirty="0">
              <a:solidFill>
                <a:schemeClr val="tx2"/>
              </a:solidFill>
            </a:endParaRPr>
          </a:p>
          <a:p>
            <a:pPr>
              <a:buFont typeface="Wingdings" panose="05000000000000000000" pitchFamily="2" charset="2"/>
              <a:buChar char="Ø"/>
            </a:pPr>
            <a:r>
              <a:rPr lang="en-US" sz="1500" dirty="0">
                <a:solidFill>
                  <a:schemeClr val="tx2"/>
                </a:solidFill>
              </a:rPr>
              <a:t>Men's Street Footwear recorded the highest sales revenue across the period</a:t>
            </a:r>
            <a:endParaRPr lang="en-US" sz="1500" dirty="0">
              <a:solidFill>
                <a:schemeClr val="tx2"/>
              </a:solidFill>
            </a:endParaRPr>
          </a:p>
          <a:p>
            <a:pPr>
              <a:buFont typeface="Wingdings" panose="05000000000000000000" pitchFamily="2" charset="2"/>
              <a:buChar char="Ø"/>
            </a:pPr>
            <a:r>
              <a:rPr lang="en-US" sz="1500" dirty="0">
                <a:solidFill>
                  <a:schemeClr val="tx2"/>
                </a:solidFill>
              </a:rPr>
              <a:t>Most product categories experienced growth from 2020 to 2021.</a:t>
            </a:r>
            <a:endParaRPr lang="en-US" sz="1500" dirty="0">
              <a:solidFill>
                <a:schemeClr val="tx2"/>
              </a:solidFill>
            </a:endParaRPr>
          </a:p>
          <a:p>
            <a:pPr marL="0" indent="0">
              <a:buNone/>
            </a:pPr>
            <a:r>
              <a:rPr lang="en-US" sz="1500" dirty="0">
                <a:solidFill>
                  <a:schemeClr val="tx2"/>
                </a:solidFill>
              </a:rPr>
              <a:t>Insight: Demand for Men's Street Footwear remained consistently strong throughout the period, making it Adidas' most important product category. The overall increase in product sales from 2020 to 2021 suggests growing market demand and expanding sales opportunities.</a:t>
            </a:r>
            <a:endParaRPr lang="en-US" sz="1500" dirty="0">
              <a:solidFill>
                <a:schemeClr val="tx2"/>
              </a:solidFill>
            </a:endParaRPr>
          </a:p>
        </p:txBody>
      </p:sp>
      <p:pic>
        <p:nvPicPr>
          <p:cNvPr id="4" name="Picture 3"/>
          <p:cNvPicPr>
            <a:picLocks noChangeAspect="1"/>
          </p:cNvPicPr>
          <p:nvPr/>
        </p:nvPicPr>
        <p:blipFill>
          <a:blip r:embed="rId1"/>
          <a:stretch>
            <a:fillRect/>
          </a:stretch>
        </p:blipFill>
        <p:spPr>
          <a:xfrm>
            <a:off x="5913619" y="2015732"/>
            <a:ext cx="5869123" cy="38267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8391" y="1170146"/>
            <a:ext cx="9603275" cy="604556"/>
          </a:xfrm>
        </p:spPr>
        <p:txBody>
          <a:bodyPr>
            <a:normAutofit/>
          </a:bodyPr>
          <a:lstStyle/>
          <a:p>
            <a:r>
              <a:rPr lang="en-US" sz="3000" b="1" dirty="0"/>
              <a:t>Growth Over Time </a:t>
            </a:r>
            <a:endParaRPr lang="en-US" sz="3000" b="1" dirty="0"/>
          </a:p>
        </p:txBody>
      </p:sp>
      <p:sp>
        <p:nvSpPr>
          <p:cNvPr id="3" name="Content Placeholder 2"/>
          <p:cNvSpPr>
            <a:spLocks noGrp="1"/>
          </p:cNvSpPr>
          <p:nvPr>
            <p:ph idx="1"/>
          </p:nvPr>
        </p:nvSpPr>
        <p:spPr>
          <a:xfrm>
            <a:off x="1150334" y="1664494"/>
            <a:ext cx="9720071" cy="4023360"/>
          </a:xfrm>
        </p:spPr>
        <p:txBody>
          <a:bodyPr>
            <a:normAutofit/>
          </a:bodyPr>
          <a:lstStyle/>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endParaRPr lang="en-US" sz="1600" dirty="0">
              <a:solidFill>
                <a:schemeClr val="tx2"/>
              </a:solidFill>
            </a:endParaRPr>
          </a:p>
          <a:p>
            <a:pPr marL="0" indent="0">
              <a:lnSpc>
                <a:spcPct val="120000"/>
              </a:lnSpc>
              <a:buNone/>
            </a:pPr>
            <a:r>
              <a:rPr lang="en-US" sz="1600" dirty="0">
                <a:solidFill>
                  <a:schemeClr val="tx2"/>
                </a:solidFill>
              </a:rPr>
              <a:t>Insight: Revenue and operating profit increased significantly between 2020 and 2021, reflecting strong business growth and increased market demand.</a:t>
            </a:r>
            <a:endParaRPr lang="en-US" sz="1600" dirty="0">
              <a:solidFill>
                <a:schemeClr val="tx2"/>
              </a:solidFill>
            </a:endParaRPr>
          </a:p>
        </p:txBody>
      </p:sp>
      <p:pic>
        <p:nvPicPr>
          <p:cNvPr id="6" name="Picture 5"/>
          <p:cNvPicPr>
            <a:picLocks noChangeAspect="1"/>
          </p:cNvPicPr>
          <p:nvPr/>
        </p:nvPicPr>
        <p:blipFill>
          <a:blip r:embed="rId1"/>
          <a:stretch>
            <a:fillRect/>
          </a:stretch>
        </p:blipFill>
        <p:spPr>
          <a:xfrm>
            <a:off x="1924212" y="1861711"/>
            <a:ext cx="7684008" cy="31345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sz="3000" b="1" dirty="0"/>
              <a:t>Dashboard Overview</a:t>
            </a:r>
            <a:endParaRPr lang="en-US" dirty="0"/>
          </a:p>
        </p:txBody>
      </p:sp>
      <p:pic>
        <p:nvPicPr>
          <p:cNvPr id="19" name="Picture 18"/>
          <p:cNvPicPr>
            <a:picLocks noChangeAspect="1"/>
          </p:cNvPicPr>
          <p:nvPr/>
        </p:nvPicPr>
        <p:blipFill>
          <a:blip r:embed="rId1"/>
          <a:stretch>
            <a:fillRect/>
          </a:stretch>
        </p:blipFill>
        <p:spPr>
          <a:xfrm>
            <a:off x="1663909" y="1976157"/>
            <a:ext cx="9158989" cy="40773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71779"/>
            <a:ext cx="9603275" cy="587136"/>
          </a:xfrm>
        </p:spPr>
        <p:txBody>
          <a:bodyPr>
            <a:normAutofit/>
          </a:bodyPr>
          <a:lstStyle/>
          <a:p>
            <a:r>
              <a:rPr lang="en-US" sz="3000" b="1" dirty="0"/>
              <a:t>Key Findings</a:t>
            </a:r>
            <a:endParaRPr lang="en-US" sz="3000" b="1" dirty="0"/>
          </a:p>
        </p:txBody>
      </p:sp>
      <p:sp>
        <p:nvSpPr>
          <p:cNvPr id="3" name="Content Placeholder 2"/>
          <p:cNvSpPr>
            <a:spLocks noGrp="1"/>
          </p:cNvSpPr>
          <p:nvPr>
            <p:ph idx="1"/>
          </p:nvPr>
        </p:nvSpPr>
        <p:spPr/>
        <p:txBody>
          <a:bodyPr>
            <a:normAutofit/>
          </a:bodyPr>
          <a:lstStyle/>
          <a:p>
            <a:pPr marL="342900" marR="0" lvl="0" indent="-342900">
              <a:lnSpc>
                <a:spcPct val="115000"/>
              </a:lnSpc>
              <a:spcBef>
                <a:spcPts val="0"/>
              </a:spcBef>
              <a:spcAft>
                <a:spcPts val="0"/>
              </a:spcAft>
              <a:buFont typeface="+mj-lt"/>
              <a:buAutoNum type="arabicPeriod"/>
            </a:pPr>
            <a:r>
              <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rPr>
              <a:t>In-Store sales generated the highest revenue contribution.</a:t>
            </a:r>
            <a:endPar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rPr>
              <a:t>The Online channel achieved the highest profit margin despite lower revenue.</a:t>
            </a:r>
            <a:endPar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rPr>
              <a:t>Men's Street Footwear generated the highest revenue and profit among all product categories.</a:t>
            </a:r>
            <a:endPar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rPr>
              <a:t>The West region recorded the highest sales revenue and operating profit.</a:t>
            </a:r>
            <a:endPar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rPr>
              <a:t>West Gear was the strongest retail partner based on sales and profitability performance.</a:t>
            </a:r>
            <a:endPar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342900" marR="0" lvl="0" indent="-342900">
              <a:lnSpc>
                <a:spcPct val="115000"/>
              </a:lnSpc>
              <a:spcBef>
                <a:spcPts val="0"/>
              </a:spcBef>
              <a:spcAft>
                <a:spcPts val="800"/>
              </a:spcAft>
              <a:buFont typeface="+mj-lt"/>
              <a:buAutoNum type="arabicPeriod"/>
            </a:pPr>
            <a:r>
              <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rPr>
              <a:t>Revenue and profit increased significantly between 2020 and 2021, indicating strong business growth.</a:t>
            </a:r>
            <a:endParaRPr lang="en-US" sz="18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6589" y="1089332"/>
            <a:ext cx="9603275" cy="664517"/>
          </a:xfrm>
        </p:spPr>
        <p:txBody>
          <a:bodyPr>
            <a:normAutofit/>
          </a:bodyPr>
          <a:lstStyle/>
          <a:p>
            <a:r>
              <a:rPr lang="en-US" sz="3000" b="1" dirty="0"/>
              <a:t>Recommendations</a:t>
            </a:r>
            <a:endParaRPr lang="en-US" sz="3000" b="1" dirty="0"/>
          </a:p>
        </p:txBody>
      </p:sp>
      <p:sp>
        <p:nvSpPr>
          <p:cNvPr id="3" name="Content Placeholder 2"/>
          <p:cNvSpPr>
            <a:spLocks noGrp="1"/>
          </p:cNvSpPr>
          <p:nvPr>
            <p:ph idx="1"/>
          </p:nvPr>
        </p:nvSpPr>
        <p:spPr>
          <a:xfrm>
            <a:off x="224523" y="1971674"/>
            <a:ext cx="10515600" cy="4271729"/>
          </a:xfrm>
        </p:spPr>
        <p:txBody>
          <a:bodyPr numCol="2">
            <a:noAutofit/>
          </a:bodyPr>
          <a:lstStyle/>
          <a:p>
            <a:pPr marL="1371600" lvl="3" indent="0" algn="just" rtl="0">
              <a:lnSpc>
                <a:spcPct val="115000"/>
              </a:lnSpc>
              <a:buNone/>
            </a:pPr>
            <a:r>
              <a:rPr lang="en-US" sz="900" b="1" dirty="0">
                <a:solidFill>
                  <a:schemeClr val="tx2"/>
                </a:solidFill>
              </a:rPr>
              <a:t>Product Strategy</a:t>
            </a:r>
            <a:endParaRPr lang="en-US" sz="900" b="1" dirty="0">
              <a:solidFill>
                <a:schemeClr val="tx2"/>
              </a:solidFill>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Increase investment in Men's Street Footwear, as it generated the highest sales revenue and demonstrated strong market demand.</a:t>
            </a:r>
            <a:endPar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Introduce promotions for weaker-performing product categories.</a:t>
            </a:r>
            <a:endPar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Regularly monitor the performance of underperforming product categories and assess whether they require repositioning, product improvements, or promotional support to increase demand.</a:t>
            </a:r>
            <a:endPar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1371600" lvl="3" indent="0" algn="just" rtl="0">
              <a:lnSpc>
                <a:spcPct val="115000"/>
              </a:lnSpc>
              <a:buNone/>
            </a:pPr>
            <a:r>
              <a:rPr lang="en-US" sz="900" b="1" dirty="0">
                <a:solidFill>
                  <a:schemeClr val="tx2"/>
                </a:solidFill>
              </a:rPr>
              <a:t>Retailer Management</a:t>
            </a:r>
            <a:endParaRPr lang="en-US" sz="900" b="1" dirty="0">
              <a:solidFill>
                <a:schemeClr val="tx2"/>
              </a:solidFill>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Strengthen the partnership with West Gear through joint marketing initiatives, exclusive product launches, and collaborative promotional campaigns.</a:t>
            </a:r>
            <a:endPar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Support lower-performing retailers through promotions and joint campaigns.</a:t>
            </a:r>
            <a:endParaRPr lang="en-US" sz="900" b="1" dirty="0">
              <a:solidFill>
                <a:schemeClr val="tx2"/>
              </a:solidFill>
            </a:endParaRPr>
          </a:p>
          <a:p>
            <a:pPr marL="1371600" marR="0" lvl="3" indent="0" algn="just" rtl="0">
              <a:lnSpc>
                <a:spcPct val="115000"/>
              </a:lnSpc>
              <a:spcBef>
                <a:spcPts val="0"/>
              </a:spcBef>
              <a:spcAft>
                <a:spcPts val="800"/>
              </a:spcAft>
              <a:buNone/>
              <a:tabLst>
                <a:tab pos="457200" algn="l"/>
              </a:tabLst>
            </a:pPr>
            <a:r>
              <a:rPr lang="en-US" sz="900" b="1" dirty="0">
                <a:solidFill>
                  <a:schemeClr val="tx2"/>
                </a:solidFill>
              </a:rPr>
              <a:t>Regional Focus</a:t>
            </a:r>
            <a:endParaRPr lang="en-US" sz="900" b="1" dirty="0">
              <a:solidFill>
                <a:schemeClr val="tx2"/>
              </a:solidFill>
            </a:endParaRPr>
          </a:p>
          <a:p>
            <a:pPr lvl="3" algn="just" rtl="0">
              <a:lnSpc>
                <a:spcPct val="115000"/>
              </a:lnSpc>
              <a:buFont typeface="Arial" panose="020B0604020202020204" pitchFamily="34" charset="0"/>
              <a:buChar char="•"/>
            </a:pPr>
            <a:r>
              <a:rPr lang="en-US" sz="900" dirty="0">
                <a:solidFill>
                  <a:schemeClr val="tx2"/>
                </a:solidFill>
              </a:rPr>
              <a:t>Maintain investment in the West region to sustain revenue leadership while studying the South region's profitability model for potential replication in other markets.</a:t>
            </a:r>
            <a:endParaRPr lang="en-US" sz="900" dirty="0">
              <a:solidFill>
                <a:schemeClr val="tx2"/>
              </a:solidFill>
            </a:endParaRPr>
          </a:p>
          <a:p>
            <a:pPr marL="1371600" lvl="3" indent="0" algn="just" rtl="0">
              <a:lnSpc>
                <a:spcPct val="115000"/>
              </a:lnSpc>
              <a:buNone/>
            </a:pPr>
            <a:r>
              <a:rPr lang="en-US" sz="900" b="1" dirty="0">
                <a:solidFill>
                  <a:schemeClr val="tx2"/>
                </a:solidFill>
              </a:rPr>
              <a:t>Channel Optimization </a:t>
            </a:r>
            <a:endParaRPr lang="en-US" sz="900" b="1" dirty="0">
              <a:solidFill>
                <a:schemeClr val="tx2"/>
              </a:solidFill>
            </a:endParaRPr>
          </a:p>
          <a:p>
            <a:pPr lvl="3" algn="just" rtl="0">
              <a:lnSpc>
                <a:spcPct val="115000"/>
              </a:lnSpc>
              <a:buFont typeface="Arial" panose="020B0604020202020204" pitchFamily="34" charset="0"/>
              <a:buChar char="•"/>
            </a:pPr>
            <a:r>
              <a:rPr lang="en-US" sz="900" dirty="0">
                <a:solidFill>
                  <a:schemeClr val="tx2"/>
                </a:solidFill>
              </a:rPr>
              <a:t>Increase investment in the online sales channel, as it delivers the highest profit margin despite generating lower revenue than physical channels.</a:t>
            </a:r>
            <a:endParaRPr lang="en-US" sz="900" dirty="0">
              <a:solidFill>
                <a:schemeClr val="tx2"/>
              </a:solidFill>
            </a:endParaRPr>
          </a:p>
          <a:p>
            <a:pPr lvl="3" algn="just" rtl="0">
              <a:lnSpc>
                <a:spcPct val="115000"/>
              </a:lnSpc>
              <a:buFont typeface="Arial" panose="020B0604020202020204" pitchFamily="34" charset="0"/>
              <a:buChar char="•"/>
            </a:pPr>
            <a:r>
              <a:rPr lang="en-US" sz="900" dirty="0">
                <a:solidFill>
                  <a:schemeClr val="tx2"/>
                </a:solidFill>
              </a:rPr>
              <a:t>Increase digital marketing campaigns.</a:t>
            </a:r>
            <a:endParaRPr lang="en-US" sz="900" dirty="0">
              <a:solidFill>
                <a:schemeClr val="tx2"/>
              </a:solidFill>
            </a:endParaRPr>
          </a:p>
          <a:p>
            <a:pPr lvl="3" algn="just" rtl="0">
              <a:lnSpc>
                <a:spcPct val="115000"/>
              </a:lnSpc>
              <a:buFont typeface="Arial" panose="020B0604020202020204" pitchFamily="34" charset="0"/>
              <a:buChar char="•"/>
            </a:pPr>
            <a:r>
              <a:rPr lang="en-US" sz="900" dirty="0">
                <a:solidFill>
                  <a:schemeClr val="tx2"/>
                </a:solidFill>
              </a:rPr>
              <a:t>Improve online customer engagement.</a:t>
            </a:r>
            <a:endParaRPr lang="en-US" sz="900" dirty="0">
              <a:solidFill>
                <a:schemeClr val="tx2"/>
              </a:solidFill>
            </a:endParaRPr>
          </a:p>
          <a:p>
            <a:pPr marL="1371600" lvl="3" indent="0" algn="just" rtl="0">
              <a:lnSpc>
                <a:spcPct val="115000"/>
              </a:lnSpc>
              <a:buNone/>
            </a:pPr>
            <a:r>
              <a:rPr lang="en-US" sz="900" b="1" dirty="0">
                <a:solidFill>
                  <a:schemeClr val="tx2"/>
                </a:solidFill>
              </a:rPr>
              <a:t>Demand Forecasting</a:t>
            </a:r>
            <a:endParaRPr lang="en-US" sz="900" b="1" dirty="0">
              <a:solidFill>
                <a:schemeClr val="tx2"/>
              </a:solidFill>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Use historical sales and seasonal demand patterns to forecast future inventory requirements and reduce the risk of stock shortages or excess inventory.</a:t>
            </a:r>
            <a:endPar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1714500" marR="0" lvl="3" indent="-342900" algn="just" rtl="0">
              <a:lnSpc>
                <a:spcPct val="115000"/>
              </a:lnSpc>
              <a:spcBef>
                <a:spcPts val="0"/>
              </a:spcBef>
              <a:spcAft>
                <a:spcPts val="800"/>
              </a:spcAft>
              <a:buFont typeface="Arial" panose="020B0604020202020204" pitchFamily="34" charset="0"/>
              <a:buChar char="•"/>
              <a:tabLst>
                <a:tab pos="457200" algn="l"/>
              </a:tabLst>
            </a:pPr>
            <a:r>
              <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rPr>
              <a:t>Prepare inventory based on high-demand product categories.</a:t>
            </a:r>
            <a:endParaRPr lang="en-US" sz="900" kern="100" dirty="0">
              <a:solidFill>
                <a:schemeClr val="tx2"/>
              </a:solidFill>
              <a:effectLst/>
              <a:latin typeface="Gill Sans MT" panose="020B0502020104020203" charset="0"/>
              <a:ea typeface="Gill Sans MT" panose="020B0502020104020203" charset="0"/>
              <a:cs typeface="Times New Roman" panose="02020603050405020304" pitchFamily="18" charset="0"/>
            </a:endParaRPr>
          </a:p>
          <a:p>
            <a:pPr marL="1371600" lvl="3" indent="0" algn="just" rtl="0">
              <a:lnSpc>
                <a:spcPct val="115000"/>
              </a:lnSpc>
              <a:buNone/>
            </a:pPr>
            <a:endParaRPr lang="en-US" sz="900" dirty="0">
              <a:solidFill>
                <a:schemeClr val="tx2"/>
              </a:solidFill>
            </a:endParaRPr>
          </a:p>
          <a:p>
            <a:pPr marL="1371600" lvl="3" indent="0" algn="just" rtl="0">
              <a:lnSpc>
                <a:spcPct val="115000"/>
              </a:lnSpc>
              <a:buNone/>
            </a:pPr>
            <a:endParaRPr lang="en-US" sz="900" dirty="0">
              <a:solidFill>
                <a:schemeClr val="tx2"/>
              </a:solidFill>
            </a:endParaRPr>
          </a:p>
          <a:p>
            <a:pPr lvl="3" algn="just">
              <a:lnSpc>
                <a:spcPct val="115000"/>
              </a:lnSpc>
            </a:pPr>
            <a:endParaRPr lang="en-US" sz="900" dirty="0">
              <a:solidFill>
                <a:schemeClr val="tx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1156789"/>
            <a:ext cx="9603275" cy="657022"/>
          </a:xfrm>
        </p:spPr>
        <p:txBody>
          <a:bodyPr>
            <a:normAutofit/>
          </a:bodyPr>
          <a:lstStyle/>
          <a:p>
            <a:r>
              <a:rPr lang="en-US" sz="3000" b="1" dirty="0"/>
              <a:t>Conclusion </a:t>
            </a:r>
            <a:endParaRPr lang="en-US" sz="3000" b="1" dirty="0"/>
          </a:p>
        </p:txBody>
      </p:sp>
      <p:sp>
        <p:nvSpPr>
          <p:cNvPr id="3" name="Content Placeholder 2"/>
          <p:cNvSpPr>
            <a:spLocks noGrp="1"/>
          </p:cNvSpPr>
          <p:nvPr>
            <p:ph idx="1"/>
          </p:nvPr>
        </p:nvSpPr>
        <p:spPr/>
        <p:txBody>
          <a:bodyPr>
            <a:normAutofit/>
          </a:bodyPr>
          <a:lstStyle/>
          <a:p>
            <a:pPr marL="0" indent="0">
              <a:buNone/>
            </a:pPr>
            <a:endParaRPr lang="en-US" sz="1500" dirty="0">
              <a:solidFill>
                <a:schemeClr val="tx2">
                  <a:lumMod val="75000"/>
                </a:schemeClr>
              </a:solidFill>
            </a:endParaRPr>
          </a:p>
          <a:p>
            <a:pPr marL="0" indent="0">
              <a:lnSpc>
                <a:spcPct val="150000"/>
              </a:lnSpc>
              <a:buNone/>
            </a:pPr>
            <a:r>
              <a:rPr lang="en-US" sz="1500" dirty="0">
                <a:solidFill>
                  <a:schemeClr val="tx2">
                    <a:lumMod val="75000"/>
                  </a:schemeClr>
                </a:solidFill>
              </a:rPr>
              <a:t>The analysis revealed that customers’ purchasing behavior is strongly  influenced by sales channels, product categories, and geographical regions. In-store shopping remains the preferred purchasing method, while Men’s Street Footwear drives the highest  customer demand. By improving online sales performance, investing in high-performing products, and strengthening regional strategies, Adidas  can increase future revenue and profitability.</a:t>
            </a:r>
            <a:endParaRPr lang="en-US" sz="1500" dirty="0">
              <a:solidFill>
                <a:schemeClr val="tx2">
                  <a:lumMod val="75000"/>
                </a:schemeClr>
              </a:solidFill>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5664</Words>
  <Application>WPS Office WWO_wpscloud_20260527120039-ddf4c382ad</Application>
  <PresentationFormat>Widescreen</PresentationFormat>
  <Paragraphs>161</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宋体</vt:lpstr>
      <vt:lpstr>Wingdings</vt:lpstr>
      <vt:lpstr>Century Gothic</vt:lpstr>
      <vt:lpstr>Kingsoft Confetti</vt:lpstr>
      <vt:lpstr>Gill Sans MT</vt:lpstr>
      <vt:lpstr>Noto Sans Lao</vt:lpstr>
      <vt:lpstr>微软雅黑</vt:lpstr>
      <vt:lpstr>汉仪旗黑KW 55S</vt:lpstr>
      <vt:lpstr>Times New Roman</vt:lpstr>
      <vt:lpstr>汉仪书宋二KW</vt:lpstr>
      <vt:lpstr>Gallery</vt:lpstr>
      <vt:lpstr>Adidas Sales Data Analysis</vt:lpstr>
      <vt:lpstr>Background</vt:lpstr>
      <vt:lpstr>Objectives</vt:lpstr>
      <vt:lpstr>Problem Statement</vt:lpstr>
      <vt:lpstr>KPI Overview</vt:lpstr>
      <vt:lpstr>Customers’ Behavior Through Sales Channel</vt:lpstr>
      <vt:lpstr> Product Preference Analysis </vt:lpstr>
      <vt:lpstr> Top Performing Products Across Region</vt:lpstr>
      <vt:lpstr>Regional Customer Demand</vt:lpstr>
      <vt:lpstr>Retailer Performance</vt:lpstr>
      <vt:lpstr> Product Demand Over Time</vt:lpstr>
      <vt:lpstr>Growth Over Time </vt:lpstr>
      <vt:lpstr> Dashboard Overview</vt:lpstr>
      <vt:lpstr>Key Findings</vt:lpstr>
      <vt:lpstr>Recommendations</vt:lpstr>
      <vt:lpstr>Conclusion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Adidas Sales Data Analysis</dc:title>
  <dc:creator>Adeniyi Promise</dc:creator>
  <cp:lastModifiedBy>WPS_1778587356</cp:lastModifiedBy>
  <dcterms:created xsi:type="dcterms:W3CDTF">2026-06-06T18:00:03Z</dcterms:created>
  <dcterms:modified xsi:type="dcterms:W3CDTF">2026-06-06T18:00:03Z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481D6E0FD3C74BAB6AB7216A8AB8A469_42</vt:lpwstr>
  </property>
  <property fmtid="{D5CDD505-2E9C-101B-9397-08002B2CF9AE}" pid="3" name="KSOProductBuildVer">
    <vt:lpwstr>2052-12.9.0.26862</vt:lpwstr>
  </property>
</Properties>
</file>